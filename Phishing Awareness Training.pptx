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@paypal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D4C7BC-8661-4E97-B4B0-B3E6FE909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42" y="58189"/>
            <a:ext cx="11529753" cy="6633556"/>
          </a:xfrm>
        </p:spPr>
        <p:txBody>
          <a:bodyPr>
            <a:normAutofit/>
          </a:bodyPr>
          <a:lstStyle/>
          <a:p>
            <a:pPr algn="ctr"/>
            <a:endParaRPr lang="en-GB" sz="28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r>
              <a:rPr lang="en-GB" sz="2800" b="1" dirty="0">
                <a:solidFill>
                  <a:schemeClr val="accent2"/>
                </a:solidFill>
                <a:latin typeface="Algerian" panose="04020705040A02060702" pitchFamily="82" charset="0"/>
              </a:rPr>
              <a:t>Phishing Awareness Training &amp; </a:t>
            </a:r>
            <a:r>
              <a:rPr lang="en-GB" sz="2800" b="1" dirty="0" err="1">
                <a:solidFill>
                  <a:schemeClr val="accent2"/>
                </a:solidFill>
                <a:latin typeface="Algerian" panose="04020705040A02060702" pitchFamily="82" charset="0"/>
              </a:rPr>
              <a:t>Defense</a:t>
            </a:r>
            <a:r>
              <a:rPr lang="en-GB" sz="2800" b="1" dirty="0">
                <a:solidFill>
                  <a:schemeClr val="accent2"/>
                </a:solidFill>
                <a:latin typeface="Algerian" panose="04020705040A02060702" pitchFamily="82" charset="0"/>
              </a:rPr>
              <a:t> Strategies</a:t>
            </a:r>
          </a:p>
          <a:p>
            <a:pPr algn="ctr"/>
            <a:endParaRPr lang="en-GB" sz="28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endParaRPr lang="en-GB" sz="28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endParaRPr lang="en-GB" sz="28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endParaRPr lang="en-GB" sz="28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endParaRPr lang="en-GB" sz="28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endParaRPr lang="en-GB" sz="2400" dirty="0">
              <a:latin typeface="Algerian" panose="04020705040A02060702" pitchFamily="82" charset="0"/>
            </a:endParaRPr>
          </a:p>
          <a:p>
            <a:pPr algn="ctr"/>
            <a:endParaRPr lang="en-GB" sz="2000" b="1" dirty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algn="ctr"/>
            <a:r>
              <a:rPr lang="en-GB" sz="2000" b="1" dirty="0">
                <a:solidFill>
                  <a:schemeClr val="accent2"/>
                </a:solidFill>
                <a:latin typeface="Algerian" panose="04020705040A02060702" pitchFamily="82" charset="0"/>
              </a:rPr>
              <a:t>Identifying Social Engineering, Email Spoofing, and Preventive Controls</a:t>
            </a:r>
          </a:p>
          <a:p>
            <a:pPr algn="l"/>
            <a:endParaRPr lang="en-IN" sz="2000" b="1" dirty="0"/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Algerian" panose="04020705040A02060702" pitchFamily="82" charset="0"/>
              </a:rPr>
              <a:t>Pr</a:t>
            </a:r>
            <a:r>
              <a:rPr lang="en-IN" sz="2000" b="1" dirty="0">
                <a:solidFill>
                  <a:schemeClr val="tx1"/>
                </a:solidFill>
                <a:latin typeface="Algerian" panose="04020705040A02060702" pitchFamily="82" charset="0"/>
              </a:rPr>
              <a:t>esenter: </a:t>
            </a:r>
            <a:r>
              <a:rPr lang="en-IN" sz="2000" dirty="0">
                <a:solidFill>
                  <a:schemeClr val="tx1"/>
                </a:solidFill>
                <a:latin typeface="Algerian" panose="04020705040A02060702" pitchFamily="82" charset="0"/>
              </a:rPr>
              <a:t>Durgesh  Yadav                        </a:t>
            </a:r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Organization: </a:t>
            </a:r>
            <a:r>
              <a:rPr lang="en-IN" dirty="0" err="1">
                <a:solidFill>
                  <a:schemeClr val="tx1"/>
                </a:solidFill>
                <a:latin typeface="Algerian" panose="04020705040A02060702" pitchFamily="82" charset="0"/>
              </a:rPr>
              <a:t>CodeAlpha</a:t>
            </a:r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 Cybersecurity Internship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C7778-DDDB-4C6F-A6BC-C86403998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46909"/>
            <a:ext cx="9833956" cy="351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7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9878-7F71-45CB-9FBB-26FF2016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0807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+mn-lt"/>
                <a:cs typeface="Calibri" panose="020F0502020204030204" pitchFamily="34" charset="0"/>
              </a:rPr>
              <a:t>Introduction</a:t>
            </a:r>
            <a:r>
              <a:rPr lang="en-IN" sz="4400" b="1" dirty="0">
                <a:latin typeface="Calibri" panose="020F0502020204030204" pitchFamily="34" charset="0"/>
                <a:cs typeface="Calibri" panose="020F0502020204030204" pitchFamily="34" charset="0"/>
              </a:rPr>
              <a:t> to Phishing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3743-9F1F-43BE-A129-588FDF32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007" y="1346663"/>
            <a:ext cx="10914611" cy="5403272"/>
          </a:xfrm>
        </p:spPr>
        <p:txBody>
          <a:bodyPr>
            <a:normAutofit fontScale="92500" lnSpcReduction="10000"/>
          </a:bodyPr>
          <a:lstStyle/>
          <a:p>
            <a:r>
              <a:rPr lang="en-GB" sz="3200" b="1" dirty="0"/>
              <a:t>What is Phishing?</a:t>
            </a:r>
          </a:p>
          <a:p>
            <a:r>
              <a:rPr lang="en-GB" sz="2800" b="1" dirty="0"/>
              <a:t>Definition</a:t>
            </a:r>
            <a:r>
              <a:rPr lang="en-GB" sz="2800" dirty="0"/>
              <a:t>: </a:t>
            </a:r>
            <a:r>
              <a:rPr lang="en-GB" sz="2400" dirty="0"/>
              <a:t>A form of social engineering where attackers impersonate trustworthy entities via email, SMS, or websites to steal sensitive credentials or deploy malware.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800" b="1" dirty="0"/>
              <a:t>Core Objective</a:t>
            </a:r>
            <a:r>
              <a:rPr lang="en-GB" sz="2800" dirty="0"/>
              <a:t>: </a:t>
            </a:r>
            <a:r>
              <a:rPr lang="en-GB" sz="2400" dirty="0"/>
              <a:t>Exploiting human trust and psychological triggers rather than technical system vulnerabilities.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800" b="1" dirty="0"/>
              <a:t>Primary Channels</a:t>
            </a:r>
            <a:r>
              <a:rPr lang="en-GB" sz="2800" dirty="0"/>
              <a:t>:</a:t>
            </a:r>
          </a:p>
          <a:p>
            <a:pPr lvl="1"/>
            <a:r>
              <a:rPr lang="en-GB" sz="2400" b="1" dirty="0"/>
              <a:t>Email Phishing</a:t>
            </a:r>
            <a:r>
              <a:rPr lang="en-GB" sz="2400" dirty="0"/>
              <a:t>: </a:t>
            </a:r>
            <a:r>
              <a:rPr lang="en-GB" sz="2000" dirty="0"/>
              <a:t>Mass distribution of deceptive emails.</a:t>
            </a:r>
          </a:p>
          <a:p>
            <a:pPr lvl="1"/>
            <a:r>
              <a:rPr lang="en-GB" sz="2000" b="1" dirty="0"/>
              <a:t>S</a:t>
            </a:r>
            <a:r>
              <a:rPr lang="en-GB" sz="2400" b="1" dirty="0"/>
              <a:t>pear Phishing</a:t>
            </a:r>
            <a:r>
              <a:rPr lang="en-GB" sz="2400" dirty="0"/>
              <a:t>:</a:t>
            </a:r>
            <a:r>
              <a:rPr lang="en-GB" sz="2000" dirty="0"/>
              <a:t> Targeted attacks customized for a specific individual or organization.</a:t>
            </a:r>
          </a:p>
          <a:p>
            <a:pPr lvl="1"/>
            <a:r>
              <a:rPr lang="en-GB" sz="2400" b="1" dirty="0" err="1"/>
              <a:t>Smishing</a:t>
            </a:r>
            <a:r>
              <a:rPr lang="en-GB" sz="2400" b="1" dirty="0"/>
              <a:t> / Vishing</a:t>
            </a:r>
            <a:r>
              <a:rPr lang="en-GB" sz="2200" dirty="0"/>
              <a:t>: Phishing delivered via SMS text messages or voice calls.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03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2CB5-9798-404D-9247-E2E546C4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53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b="1" dirty="0"/>
              <a:t>Recognizing Phishing Emails &amp; Fake Websites</a:t>
            </a:r>
            <a:endParaRPr lang="en-IN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B90DB6-F567-4FF7-98C7-CC1F3893B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488" y="1500320"/>
            <a:ext cx="1145644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 Flags &amp; Technical Indicators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Sender Address Anomalies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Mismatched or spoofed domain names (e.g., support@paypa1.com instead of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support@paypal.com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Suspicious URLs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Hyperlinks pointing to unrecognized IP addresses or altered domain names (typo squatting).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Urgent / Threatening Tone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Demands immediate action with threats of account suspension, legal trouble, or financial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Generic Greetings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of impersonal salutations such as "Dear Customer" instead of your 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Malicious Attachments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Unsolicited files with dangerous extensions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.exe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.zip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xlsm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.iso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4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9E67-C395-47E9-A5C6-1993D63D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8045"/>
          </a:xfrm>
        </p:spPr>
        <p:txBody>
          <a:bodyPr/>
          <a:lstStyle/>
          <a:p>
            <a:pPr algn="ctr"/>
            <a:r>
              <a:rPr lang="en-IN" b="1" dirty="0"/>
              <a:t>Social Engineering Tactics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DA4E-445B-4D72-90C8-A2C19512A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7645"/>
            <a:ext cx="10545632" cy="497744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sz="3200" dirty="0"/>
              <a:t>Psychological Triggers Used by Attackers</a:t>
            </a:r>
          </a:p>
          <a:p>
            <a:r>
              <a:rPr lang="en-GB" sz="2400" b="1" dirty="0"/>
              <a:t>Authority</a:t>
            </a:r>
            <a:r>
              <a:rPr lang="en-GB" sz="2000" dirty="0"/>
              <a:t>: Impersonating executives (CEO fraud), IT admins, or government agencies to compel obedience.</a:t>
            </a:r>
          </a:p>
          <a:p>
            <a:r>
              <a:rPr lang="en-GB" sz="2400" b="1" dirty="0"/>
              <a:t>Urgency &amp; Fear</a:t>
            </a:r>
            <a:r>
              <a:rPr lang="en-GB" sz="2000" dirty="0"/>
              <a:t>: Creating artificial time constraints to prevent critical thinking and bypass verification routines.</a:t>
            </a:r>
          </a:p>
          <a:p>
            <a:r>
              <a:rPr lang="en-GB" sz="2400" b="1" dirty="0"/>
              <a:t>Greed &amp; Curiosity</a:t>
            </a:r>
            <a:r>
              <a:rPr lang="en-GB" sz="2400" dirty="0"/>
              <a:t>: Offering fake rewards, financial refunds, or exclusive access to entice link clicks.</a:t>
            </a:r>
          </a:p>
          <a:p>
            <a:r>
              <a:rPr lang="en-GB" sz="2400" b="1" dirty="0"/>
              <a:t>Pretexting</a:t>
            </a:r>
            <a:r>
              <a:rPr lang="en-GB" sz="2400" dirty="0"/>
              <a:t>: </a:t>
            </a:r>
            <a:r>
              <a:rPr lang="en-GB" sz="2000" dirty="0"/>
              <a:t>Creating a fabricated scenario (e.g., "Urgent Security Verification Required") to extract sensitive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4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6564-5AC5-4F73-B6D2-CFF9D744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1011"/>
          </a:xfrm>
        </p:spPr>
        <p:txBody>
          <a:bodyPr/>
          <a:lstStyle/>
          <a:p>
            <a:pPr algn="ctr"/>
            <a:r>
              <a:rPr lang="en-IN" b="1" dirty="0"/>
              <a:t>Real-World 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CC83-F208-4E06-A0B1-A9CCF96D0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0611"/>
            <a:ext cx="10580138" cy="46007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b="1" dirty="0"/>
              <a:t>Analysis of Notable Phishing Attacks</a:t>
            </a:r>
          </a:p>
          <a:p>
            <a:r>
              <a:rPr lang="en-GB" sz="2400" b="1" dirty="0"/>
              <a:t>Example 1: The Corporate Executive Scam (BEC)</a:t>
            </a:r>
            <a:endParaRPr lang="en-GB" sz="2400" dirty="0"/>
          </a:p>
          <a:p>
            <a:pPr lvl="1"/>
            <a:r>
              <a:rPr lang="en-GB" sz="2000" i="1" dirty="0"/>
              <a:t>Scenario</a:t>
            </a:r>
            <a:r>
              <a:rPr lang="en-GB" sz="1800" dirty="0"/>
              <a:t>: An attacker sends an urgent request posing as the company CFO, requesting an immediate wire transfer to a vendor account.</a:t>
            </a:r>
          </a:p>
          <a:p>
            <a:pPr lvl="1"/>
            <a:r>
              <a:rPr lang="en-GB" sz="2000" i="1" dirty="0"/>
              <a:t>Exploit</a:t>
            </a:r>
            <a:r>
              <a:rPr lang="en-GB" sz="1800" dirty="0"/>
              <a:t>: Authority impersonation and spoofed email headers.</a:t>
            </a:r>
          </a:p>
          <a:p>
            <a:pPr marL="457200" lvl="1" indent="0">
              <a:buNone/>
            </a:pPr>
            <a:endParaRPr lang="en-GB" sz="1800" dirty="0"/>
          </a:p>
          <a:p>
            <a:r>
              <a:rPr lang="en-GB" sz="2400" b="1" dirty="0"/>
              <a:t>Example 2: Credential Harvesting via Cloud Storage</a:t>
            </a:r>
            <a:endParaRPr lang="en-GB" sz="2400" dirty="0"/>
          </a:p>
          <a:p>
            <a:pPr lvl="1"/>
            <a:r>
              <a:rPr lang="en-GB" sz="2000" i="1" dirty="0"/>
              <a:t>Scenario</a:t>
            </a:r>
            <a:r>
              <a:rPr lang="en-GB" sz="2000" dirty="0"/>
              <a:t>:</a:t>
            </a:r>
            <a:r>
              <a:rPr lang="en-GB" dirty="0"/>
              <a:t> </a:t>
            </a:r>
            <a:r>
              <a:rPr lang="en-GB" sz="1800" dirty="0"/>
              <a:t>An email claims a document has been shared on Google Drive or OneDrive, linking to a fake login page that harvests password credentials.</a:t>
            </a:r>
          </a:p>
          <a:p>
            <a:pPr lvl="1"/>
            <a:r>
              <a:rPr lang="en-GB" sz="2000" i="1" dirty="0"/>
              <a:t>Exploit</a:t>
            </a:r>
            <a:r>
              <a:rPr lang="en-GB" sz="2000" dirty="0"/>
              <a:t>:</a:t>
            </a:r>
            <a:r>
              <a:rPr lang="en-GB" dirty="0"/>
              <a:t> </a:t>
            </a:r>
            <a:r>
              <a:rPr lang="en-GB" sz="1800" dirty="0"/>
              <a:t>Visual cloning of legitimate portal login screens.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82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F862-7923-4FC3-9CAB-5D9CF693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Best Practices &amp; </a:t>
            </a:r>
            <a:r>
              <a:rPr lang="en-IN" b="1" dirty="0" err="1"/>
              <a:t>Defense</a:t>
            </a:r>
            <a:r>
              <a:rPr lang="en-IN" b="1" dirty="0"/>
              <a:t>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BB948-8F78-497F-89F2-F33CE9829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53739"/>
            <a:ext cx="10145837" cy="41876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How to Prevent &amp; Mitigate Phishing Risks</a:t>
            </a:r>
          </a:p>
          <a:p>
            <a:r>
              <a:rPr lang="en-GB" sz="2400" b="1" dirty="0"/>
              <a:t>Multi-Factor Authentication (MFA</a:t>
            </a:r>
            <a:r>
              <a:rPr lang="en-GB" sz="2000" b="1" dirty="0"/>
              <a:t>)</a:t>
            </a:r>
            <a:r>
              <a:rPr lang="en-GB" sz="2000" dirty="0"/>
              <a:t>: Enforce MFA across all accounts so stolen passwords alone cannot grant access.</a:t>
            </a:r>
          </a:p>
          <a:p>
            <a:r>
              <a:rPr lang="en-GB" sz="2400" b="1" dirty="0"/>
              <a:t>URL Inspection</a:t>
            </a:r>
            <a:r>
              <a:rPr lang="en-GB" sz="2400" dirty="0"/>
              <a:t>:</a:t>
            </a:r>
            <a:r>
              <a:rPr lang="en-GB" dirty="0"/>
              <a:t> </a:t>
            </a:r>
            <a:r>
              <a:rPr lang="en-GB" sz="2000" dirty="0"/>
              <a:t>Hover over links to verify the actual destination domain before clicking.</a:t>
            </a:r>
          </a:p>
          <a:p>
            <a:r>
              <a:rPr lang="en-GB" sz="2400" b="1" dirty="0"/>
              <a:t>Out-of-Band Verification</a:t>
            </a:r>
            <a:r>
              <a:rPr lang="en-GB" sz="2400" dirty="0"/>
              <a:t>:</a:t>
            </a:r>
            <a:r>
              <a:rPr lang="en-GB" dirty="0"/>
              <a:t> </a:t>
            </a:r>
            <a:r>
              <a:rPr lang="en-GB" sz="2000" dirty="0"/>
              <a:t>Confirm unusual requests (e.g., financial transfers or password resets) using a separate channel (phone call or direct message).</a:t>
            </a:r>
          </a:p>
          <a:p>
            <a:r>
              <a:rPr lang="en-GB" sz="2400" b="1" dirty="0"/>
              <a:t>Email Security Gateway Tools</a:t>
            </a:r>
            <a:r>
              <a:rPr lang="en-GB" sz="2400" dirty="0"/>
              <a:t>: </a:t>
            </a:r>
            <a:r>
              <a:rPr lang="en-GB" sz="2000" dirty="0"/>
              <a:t>Implement SPF, DKIM, and DMARC DNS records to block unauthorized domain spoofing.</a:t>
            </a:r>
          </a:p>
        </p:txBody>
      </p:sp>
    </p:spTree>
    <p:extLst>
      <p:ext uri="{BB962C8B-B14F-4D97-AF65-F5344CB8AC3E}">
        <p14:creationId xmlns:p14="http://schemas.microsoft.com/office/powerpoint/2010/main" val="255034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B7D8-6BFA-4F0C-9459-38656766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Interactive Quiz &amp; Knowledge Check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C4499F-D63D-440C-B1E5-7436CB77F2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884" y="1207879"/>
            <a:ext cx="10931236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 Your Phishing Awareness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Question 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You receive an email from security@micros0ft.com asking you to reset your password immediately. What should you do?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Click the link and change your password.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Forward the email to your friends.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Delete or report the email as phishing because the domain 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typosquatting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(micros0ft).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(Correct Answer: C)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Question 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Which security mechanism helps prevent unauthorized email spoofing by authenticating sender domains?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Antivirus Software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DMARC / SPF / DKIM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(Correct Answer: B)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Disk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541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7AE5-4A10-42F9-90FA-8AF79923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Summary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85554-6F30-41B0-874C-FE7E851E3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38349"/>
            <a:ext cx="9572259" cy="47030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Key Takeaways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400" b="1" dirty="0"/>
              <a:t>Stay Vigilant</a:t>
            </a:r>
            <a:r>
              <a:rPr lang="en-GB" sz="2400" dirty="0"/>
              <a:t>: </a:t>
            </a:r>
            <a:r>
              <a:rPr lang="en-GB" sz="2000" dirty="0"/>
              <a:t>Technical filters catch many threats, but human awareness is the final layer of defence.</a:t>
            </a:r>
          </a:p>
          <a:p>
            <a:r>
              <a:rPr lang="en-GB" sz="2400" b="1" dirty="0"/>
              <a:t>Verify Before Acting</a:t>
            </a:r>
            <a:r>
              <a:rPr lang="en-GB" sz="2400" dirty="0"/>
              <a:t>: </a:t>
            </a:r>
            <a:r>
              <a:rPr lang="en-GB" sz="2000" dirty="0"/>
              <a:t>Inspect sender details, links, and attachments carefully before clicking.</a:t>
            </a:r>
          </a:p>
          <a:p>
            <a:r>
              <a:rPr lang="en-GB" sz="2400" b="1" dirty="0"/>
              <a:t>Report Suspicious Emails</a:t>
            </a:r>
            <a:r>
              <a:rPr lang="en-GB" sz="2000" dirty="0"/>
              <a:t>: Always notify your organization's IT/SOC team upon encountering potential phishing attempts.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00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BD97-FCE2-488C-BAF9-AFDFB7EE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98FB30-9ADC-4F0B-9EE9-CB8490344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28269" cy="6858000"/>
          </a:xfrm>
        </p:spPr>
      </p:pic>
    </p:spTree>
    <p:extLst>
      <p:ext uri="{BB962C8B-B14F-4D97-AF65-F5344CB8AC3E}">
        <p14:creationId xmlns:p14="http://schemas.microsoft.com/office/powerpoint/2010/main" val="38863344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</TotalTime>
  <Words>674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Introduction to Phishing Attacks</vt:lpstr>
      <vt:lpstr>Recognizing Phishing Emails &amp; Fake Websites</vt:lpstr>
      <vt:lpstr>Social Engineering Tactics Explained</vt:lpstr>
      <vt:lpstr>Real-World Case Studies</vt:lpstr>
      <vt:lpstr>Best Practices &amp; Defense Measures</vt:lpstr>
      <vt:lpstr>Interactive Quiz &amp; Knowledge Check</vt:lpstr>
      <vt:lpstr>Summary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Durgesh</dc:creator>
  <cp:lastModifiedBy>Durgesh</cp:lastModifiedBy>
  <cp:revision>7</cp:revision>
  <dcterms:created xsi:type="dcterms:W3CDTF">2026-08-05T18:13:47Z</dcterms:created>
  <dcterms:modified xsi:type="dcterms:W3CDTF">2026-08-05T19:16:00Z</dcterms:modified>
</cp:coreProperties>
</file>